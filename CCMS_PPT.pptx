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77" r:id="rId1"/>
  </p:sldMasterIdLst>
  <p:notesMasterIdLst>
    <p:notesMasterId r:id="rId18"/>
  </p:notesMasterIdLst>
  <p:sldIdLst>
    <p:sldId id="271" r:id="rId2"/>
    <p:sldId id="269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70" r:id="rId12"/>
    <p:sldId id="272" r:id="rId13"/>
    <p:sldId id="273" r:id="rId14"/>
    <p:sldId id="274" r:id="rId15"/>
    <p:sldId id="275" r:id="rId16"/>
    <p:sldId id="276" r:id="rId17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36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0" name="Shape 9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10160"/>
            <a:ext cx="14630400" cy="8239760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8481" y="2885441"/>
            <a:ext cx="9320323" cy="1975562"/>
          </a:xfrm>
        </p:spPr>
        <p:txBody>
          <a:bodyPr anchor="b">
            <a:noAutofit/>
          </a:bodyPr>
          <a:lstStyle>
            <a:lvl1pPr algn="r">
              <a:defRPr sz="648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8481" y="4861000"/>
            <a:ext cx="9320323" cy="131627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426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4855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3241041"/>
            <a:ext cx="10316002" cy="2191897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032480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462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1" y="2592707"/>
            <a:ext cx="5020842" cy="46569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07964" y="2592707"/>
            <a:ext cx="5020841" cy="46569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394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894" y="2593180"/>
            <a:ext cx="5022748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0894" y="3284695"/>
            <a:ext cx="5022748" cy="396494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06059" y="2593180"/>
            <a:ext cx="5022742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06062" y="3284695"/>
            <a:ext cx="5022740" cy="396494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048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1" y="731520"/>
            <a:ext cx="10316002" cy="15849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511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24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1" y="1798325"/>
            <a:ext cx="4625434" cy="1534159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2554" y="617910"/>
            <a:ext cx="5416249" cy="66317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1" y="3332483"/>
            <a:ext cx="4625434" cy="3101339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548476" indent="0">
              <a:buNone/>
              <a:defRPr sz="1680"/>
            </a:lvl2pPr>
            <a:lvl3pPr marL="1096951" indent="0">
              <a:buNone/>
              <a:defRPr sz="1440"/>
            </a:lvl3pPr>
            <a:lvl4pPr marL="1645427" indent="0">
              <a:buNone/>
              <a:defRPr sz="1200"/>
            </a:lvl4pPr>
            <a:lvl5pPr marL="2193901" indent="0">
              <a:buNone/>
              <a:defRPr sz="1200"/>
            </a:lvl5pPr>
            <a:lvl6pPr marL="2742377" indent="0">
              <a:buNone/>
              <a:defRPr sz="1200"/>
            </a:lvl6pPr>
            <a:lvl7pPr marL="3290852" indent="0">
              <a:buNone/>
              <a:defRPr sz="1200"/>
            </a:lvl7pPr>
            <a:lvl8pPr marL="3839328" indent="0">
              <a:buNone/>
              <a:defRPr sz="1200"/>
            </a:lvl8pPr>
            <a:lvl9pPr marL="4387804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205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5760720"/>
            <a:ext cx="10316000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801" y="731520"/>
            <a:ext cx="10316002" cy="4614862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2" y="6440806"/>
            <a:ext cx="10316000" cy="808829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463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731520"/>
            <a:ext cx="10316002" cy="40843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364480"/>
            <a:ext cx="10316002" cy="1885154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8441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1" y="731520"/>
            <a:ext cx="9712961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39367" y="4358640"/>
            <a:ext cx="8669429" cy="4572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92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364480"/>
            <a:ext cx="10316002" cy="1885154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650244" y="94845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71613" y="34638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4941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2318386"/>
            <a:ext cx="10316002" cy="3114552"/>
          </a:xfrm>
        </p:spPr>
        <p:txBody>
          <a:bodyPr anchor="b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0835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1" y="731520"/>
            <a:ext cx="9712961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2799" y="4815840"/>
            <a:ext cx="10316003" cy="61709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650244" y="94845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71613" y="34638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227407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731520"/>
            <a:ext cx="10305844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2799" y="4815840"/>
            <a:ext cx="10316003" cy="61709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4478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1268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61208" y="731520"/>
            <a:ext cx="1565692" cy="630174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2" y="731520"/>
            <a:ext cx="8472180" cy="63017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3344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992934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10160"/>
            <a:ext cx="14630400" cy="8239760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1" y="731520"/>
            <a:ext cx="10316002" cy="15849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1" y="2592707"/>
            <a:ext cx="10316002" cy="4656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46160" y="7249635"/>
            <a:ext cx="109432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2801" y="7249635"/>
            <a:ext cx="755713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08796" y="7249635"/>
            <a:ext cx="82000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86CB4B4D-7CA3-9044-876B-883B54F867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960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  <p:sldLayoutId id="2147483791" r:id="rId14"/>
    <p:sldLayoutId id="2147483792" r:id="rId15"/>
    <p:sldLayoutId id="2147483793" r:id="rId16"/>
    <p:sldLayoutId id="2147483794" r:id="rId17"/>
  </p:sldLayoutIdLst>
  <p:txStyles>
    <p:titleStyle>
      <a:lvl1pPr algn="l" defTabSz="548640" rtl="0" eaLnBrk="1" latinLnBrk="0" hangingPunct="1">
        <a:spcBef>
          <a:spcPct val="0"/>
        </a:spcBef>
        <a:buNone/>
        <a:defRPr sz="432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21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9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47AC3-9B97-C983-4858-18B94239E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sz="8900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“</a:t>
            </a:r>
            <a:r>
              <a:rPr lang="en-IN" sz="89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Arial Rounded MT Bold" panose="020F0704030504030204" pitchFamily="34" charset="0"/>
              </a:rPr>
              <a:t>MAJOR  PROJECT”</a:t>
            </a:r>
            <a:br>
              <a:rPr lang="en-IN" sz="8900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IN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br>
              <a:rPr lang="en-IN" dirty="0"/>
            </a:br>
            <a:r>
              <a:rPr lang="en-IN" sz="9800" dirty="0">
                <a:solidFill>
                  <a:schemeClr val="accent2">
                    <a:lumMod val="50000"/>
                  </a:schemeClr>
                </a:solidFill>
              </a:rPr>
              <a:t>TOPIC</a:t>
            </a:r>
            <a:r>
              <a:rPr lang="en-IN" sz="9800" dirty="0"/>
              <a:t> – </a:t>
            </a:r>
            <a:r>
              <a:rPr lang="en-IN" sz="8900" dirty="0">
                <a:solidFill>
                  <a:srgbClr val="002060"/>
                </a:solidFill>
                <a:latin typeface="Algerian" panose="04020705040A02060702" pitchFamily="82" charset="0"/>
              </a:rPr>
              <a:t>COLLEGE CLUB MANAGEMENT System 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4062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58A32-99BD-EF5E-26CD-D3BA5548C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6874" y="0"/>
            <a:ext cx="10152619" cy="1526965"/>
          </a:xfrm>
        </p:spPr>
        <p:txBody>
          <a:bodyPr>
            <a:normAutofit fontScale="90000"/>
          </a:bodyPr>
          <a:lstStyle/>
          <a:p>
            <a:pPr algn="ctr"/>
            <a:r>
              <a:rPr lang="en-IN" sz="6600" dirty="0">
                <a:solidFill>
                  <a:srgbClr val="FF0000"/>
                </a:solidFill>
                <a:latin typeface="Algerian" panose="04020705040A02060702" pitchFamily="82" charset="0"/>
              </a:rPr>
              <a:t>DEPARTMENT –CSE(AI)</a:t>
            </a:r>
            <a:br>
              <a:rPr lang="en-IN" sz="6600" dirty="0">
                <a:solidFill>
                  <a:srgbClr val="FF0000"/>
                </a:solidFill>
                <a:latin typeface="Algerian" panose="04020705040A02060702" pitchFamily="82" charset="0"/>
              </a:rPr>
            </a:br>
            <a:r>
              <a:rPr lang="en-IN" sz="6600" dirty="0">
                <a:latin typeface="Algerian" panose="04020705040A02060702" pitchFamily="82" charset="0"/>
              </a:rPr>
              <a:t> </a:t>
            </a:r>
            <a:br>
              <a:rPr lang="en-IN" sz="6600" dirty="0">
                <a:latin typeface="Algerian" panose="04020705040A02060702" pitchFamily="82" charset="0"/>
              </a:rPr>
            </a:br>
            <a:r>
              <a:rPr lang="en-IN" dirty="0"/>
              <a:t>                 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DD903B-52E9-F02F-65CD-DC5B469E6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0361" y="3509551"/>
            <a:ext cx="5022748" cy="691514"/>
          </a:xfrm>
        </p:spPr>
        <p:txBody>
          <a:bodyPr/>
          <a:lstStyle/>
          <a:p>
            <a:r>
              <a:rPr lang="en-IN" dirty="0"/>
              <a:t>NAME-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51C44A-D45A-C098-5733-8FC19063D0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0894" y="4374292"/>
            <a:ext cx="5022748" cy="3793523"/>
          </a:xfrm>
        </p:spPr>
        <p:txBody>
          <a:bodyPr/>
          <a:lstStyle/>
          <a:p>
            <a:r>
              <a:rPr lang="en-IN" sz="2400" b="1" dirty="0"/>
              <a:t>1. Anuj Gupta</a:t>
            </a:r>
          </a:p>
          <a:p>
            <a:r>
              <a:rPr lang="en-IN" sz="2400" b="1" dirty="0"/>
              <a:t>2. Vinit Vishwakarma</a:t>
            </a:r>
          </a:p>
          <a:p>
            <a:r>
              <a:rPr lang="en-IN" sz="2400" b="1" dirty="0"/>
              <a:t>3. Vineet Singh</a:t>
            </a:r>
          </a:p>
          <a:p>
            <a:r>
              <a:rPr lang="en-IN" sz="2400" b="1" dirty="0"/>
              <a:t>4. Vipin Yadav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7ECFFB-8A70-0454-CC42-3E8A0A2BA5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22751" y="2804114"/>
            <a:ext cx="5022742" cy="1262128"/>
          </a:xfrm>
        </p:spPr>
        <p:txBody>
          <a:bodyPr/>
          <a:lstStyle/>
          <a:p>
            <a:r>
              <a:rPr lang="en-IN" dirty="0"/>
              <a:t>EMAIL.ID-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97BF19-698D-39E2-584E-E5EF102397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85390" y="4374292"/>
            <a:ext cx="5022740" cy="3964940"/>
          </a:xfrm>
        </p:spPr>
        <p:txBody>
          <a:bodyPr/>
          <a:lstStyle/>
          <a:p>
            <a:r>
              <a:rPr lang="en-IN" sz="2150" b="1" dirty="0"/>
              <a:t>1. anuj.2226cseai1117@kiet.edu</a:t>
            </a:r>
          </a:p>
          <a:p>
            <a:r>
              <a:rPr lang="en-IN" sz="2150" b="1" dirty="0"/>
              <a:t>2.vinit.2226cseai1051@kiet.edu</a:t>
            </a:r>
          </a:p>
          <a:p>
            <a:r>
              <a:rPr lang="en-IN" sz="2150" b="1" dirty="0"/>
              <a:t>3.Vineet.2226cseai1106@kiet.edu</a:t>
            </a:r>
          </a:p>
          <a:p>
            <a:r>
              <a:rPr lang="en-IN" sz="2150" b="1" dirty="0"/>
              <a:t>4. Vipin.2226cseai1082@kiet.edu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92CAA9-0F89-380E-212B-DDE28656E7C3}"/>
              </a:ext>
            </a:extLst>
          </p:cNvPr>
          <p:cNvSpPr txBox="1"/>
          <p:nvPr/>
        </p:nvSpPr>
        <p:spPr>
          <a:xfrm>
            <a:off x="262964" y="2473575"/>
            <a:ext cx="34869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rial Black" panose="020B0A04020102020204" pitchFamily="34" charset="0"/>
              </a:rPr>
              <a:t>TEAM MEMBER DETAILS 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32324A-3E65-9BDA-583A-7F9B7ADC38AC}"/>
              </a:ext>
            </a:extLst>
          </p:cNvPr>
          <p:cNvSpPr txBox="1"/>
          <p:nvPr/>
        </p:nvSpPr>
        <p:spPr>
          <a:xfrm>
            <a:off x="927740" y="7327742"/>
            <a:ext cx="72678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Bahnschrift SemiBold" panose="020B0502040204020203" pitchFamily="34" charset="0"/>
              </a:rPr>
              <a:t>MENTOR – Mr. Mukesh </a:t>
            </a:r>
            <a:r>
              <a:rPr lang="en-IN" sz="3200" b="1" dirty="0" err="1">
                <a:solidFill>
                  <a:srgbClr val="C00000"/>
                </a:solidFill>
                <a:latin typeface="Bahnschrift SemiBold" panose="020B0502040204020203" pitchFamily="34" charset="0"/>
              </a:rPr>
              <a:t>Lomror</a:t>
            </a:r>
            <a:r>
              <a:rPr lang="en-IN" sz="3200" b="1" dirty="0">
                <a:solidFill>
                  <a:srgbClr val="C00000"/>
                </a:solidFill>
                <a:latin typeface="Bahnschrift SemiBold" panose="020B0502040204020203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53911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93" name="Text 0"/>
          <p:cNvSpPr txBox="1"/>
          <p:nvPr/>
        </p:nvSpPr>
        <p:spPr>
          <a:xfrm>
            <a:off x="6244709" y="1645443"/>
            <a:ext cx="7627382" cy="29162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7700"/>
              </a:lnSpc>
              <a:defRPr sz="610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</a:lstStyle>
          <a:p>
            <a:r>
              <a:t>Introduction to College Club Management</a:t>
            </a:r>
          </a:p>
        </p:txBody>
      </p:sp>
      <p:sp>
        <p:nvSpPr>
          <p:cNvPr id="94" name="Text 1"/>
          <p:cNvSpPr txBox="1"/>
          <p:nvPr/>
        </p:nvSpPr>
        <p:spPr>
          <a:xfrm>
            <a:off x="6244709" y="4921091"/>
            <a:ext cx="7627382" cy="1009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r>
              <a:t>College clubs play a crucial role in enriching the campus experience by fostering student engagement, promoting shared interests, and providing opportunities for personal growth.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99" name="Text 0"/>
          <p:cNvSpPr txBox="1"/>
          <p:nvPr/>
        </p:nvSpPr>
        <p:spPr>
          <a:xfrm>
            <a:off x="6192916" y="723900"/>
            <a:ext cx="7730967" cy="1308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200"/>
              </a:lnSpc>
              <a:defRPr sz="410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</a:lstStyle>
          <a:p>
            <a:r>
              <a:t>Challenges in Traditional Club Management</a:t>
            </a:r>
          </a:p>
        </p:txBody>
      </p:sp>
      <p:sp>
        <p:nvSpPr>
          <p:cNvPr id="100" name="Shape 1"/>
          <p:cNvSpPr/>
          <p:nvPr/>
        </p:nvSpPr>
        <p:spPr>
          <a:xfrm>
            <a:off x="6192916" y="3245762"/>
            <a:ext cx="454224" cy="454224"/>
          </a:xfrm>
          <a:prstGeom prst="roundRect">
            <a:avLst>
              <a:gd name="adj" fmla="val 18668"/>
            </a:avLst>
          </a:prstGeom>
          <a:solidFill>
            <a:srgbClr val="740B0B"/>
          </a:solidFill>
          <a:ln w="7620">
            <a:solidFill>
              <a:srgbClr val="8D242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1" name="Text 2"/>
          <p:cNvSpPr txBox="1"/>
          <p:nvPr/>
        </p:nvSpPr>
        <p:spPr>
          <a:xfrm>
            <a:off x="6325389" y="3313509"/>
            <a:ext cx="189279" cy="3270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500"/>
              </a:lnSpc>
              <a:defRPr sz="25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</a:lstStyle>
          <a:p>
            <a:r>
              <a:t>1</a:t>
            </a:r>
          </a:p>
        </p:txBody>
      </p:sp>
      <p:sp>
        <p:nvSpPr>
          <p:cNvPr id="102" name="Text 3"/>
          <p:cNvSpPr txBox="1"/>
          <p:nvPr/>
        </p:nvSpPr>
        <p:spPr>
          <a:xfrm>
            <a:off x="6848950" y="3245762"/>
            <a:ext cx="3108604" cy="322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20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</a:lstStyle>
          <a:p>
            <a:r>
              <a:t>Inefficient Communication</a:t>
            </a:r>
          </a:p>
        </p:txBody>
      </p:sp>
      <p:sp>
        <p:nvSpPr>
          <p:cNvPr id="103" name="Text 4"/>
          <p:cNvSpPr txBox="1"/>
          <p:nvPr/>
        </p:nvSpPr>
        <p:spPr>
          <a:xfrm>
            <a:off x="6848950" y="4030741"/>
            <a:ext cx="3108604" cy="93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15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r>
              <a:t>Traditional methods like email or paper flyers can be inefficient and lead to missed information.</a:t>
            </a:r>
          </a:p>
        </p:txBody>
      </p:sp>
      <p:sp>
        <p:nvSpPr>
          <p:cNvPr id="104" name="Shape 5"/>
          <p:cNvSpPr/>
          <p:nvPr/>
        </p:nvSpPr>
        <p:spPr>
          <a:xfrm>
            <a:off x="10159365" y="3245762"/>
            <a:ext cx="454224" cy="454224"/>
          </a:xfrm>
          <a:prstGeom prst="roundRect">
            <a:avLst>
              <a:gd name="adj" fmla="val 18668"/>
            </a:avLst>
          </a:prstGeom>
          <a:solidFill>
            <a:srgbClr val="740B0B"/>
          </a:solidFill>
          <a:ln w="7620">
            <a:solidFill>
              <a:srgbClr val="8D242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5" name="Text 6"/>
          <p:cNvSpPr txBox="1"/>
          <p:nvPr/>
        </p:nvSpPr>
        <p:spPr>
          <a:xfrm>
            <a:off x="10291777" y="3313509"/>
            <a:ext cx="189280" cy="3270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500"/>
              </a:lnSpc>
              <a:defRPr sz="25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</a:lstStyle>
          <a:p>
            <a:r>
              <a:t>2</a:t>
            </a:r>
          </a:p>
        </p:txBody>
      </p:sp>
      <p:sp>
        <p:nvSpPr>
          <p:cNvPr id="106" name="Text 7"/>
          <p:cNvSpPr txBox="1"/>
          <p:nvPr/>
        </p:nvSpPr>
        <p:spPr>
          <a:xfrm>
            <a:off x="10815398" y="3245762"/>
            <a:ext cx="1636292" cy="322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20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</a:lstStyle>
          <a:p>
            <a:r>
              <a:t>Limited Reach</a:t>
            </a:r>
          </a:p>
        </p:txBody>
      </p:sp>
      <p:sp>
        <p:nvSpPr>
          <p:cNvPr id="107" name="Text 8"/>
          <p:cNvSpPr txBox="1"/>
          <p:nvPr/>
        </p:nvSpPr>
        <p:spPr>
          <a:xfrm>
            <a:off x="10815398" y="3698795"/>
            <a:ext cx="3108604" cy="1250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15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r>
              <a:t>Reaching all members can be challenging with traditional methods, limiting participation and engagement.</a:t>
            </a:r>
          </a:p>
        </p:txBody>
      </p:sp>
      <p:sp>
        <p:nvSpPr>
          <p:cNvPr id="108" name="Shape 9"/>
          <p:cNvSpPr/>
          <p:nvPr/>
        </p:nvSpPr>
        <p:spPr>
          <a:xfrm>
            <a:off x="6192916" y="5428655"/>
            <a:ext cx="454224" cy="454224"/>
          </a:xfrm>
          <a:prstGeom prst="roundRect">
            <a:avLst>
              <a:gd name="adj" fmla="val 18668"/>
            </a:avLst>
          </a:prstGeom>
          <a:solidFill>
            <a:srgbClr val="740B0B"/>
          </a:solidFill>
          <a:ln w="7620">
            <a:solidFill>
              <a:srgbClr val="8D242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9" name="Text 10"/>
          <p:cNvSpPr txBox="1"/>
          <p:nvPr/>
        </p:nvSpPr>
        <p:spPr>
          <a:xfrm>
            <a:off x="6325388" y="5496400"/>
            <a:ext cx="189280" cy="3270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500"/>
              </a:lnSpc>
              <a:defRPr sz="25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</a:lstStyle>
          <a:p>
            <a:r>
              <a:t>3</a:t>
            </a:r>
          </a:p>
        </p:txBody>
      </p:sp>
      <p:sp>
        <p:nvSpPr>
          <p:cNvPr id="110" name="Text 11"/>
          <p:cNvSpPr txBox="1"/>
          <p:nvPr/>
        </p:nvSpPr>
        <p:spPr>
          <a:xfrm>
            <a:off x="6848950" y="5428655"/>
            <a:ext cx="3108604" cy="652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20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</a:lstStyle>
          <a:p>
            <a:r>
              <a:t>Time-Consuming Processes</a:t>
            </a:r>
          </a:p>
        </p:txBody>
      </p:sp>
      <p:sp>
        <p:nvSpPr>
          <p:cNvPr id="111" name="Text 12"/>
          <p:cNvSpPr txBox="1"/>
          <p:nvPr/>
        </p:nvSpPr>
        <p:spPr>
          <a:xfrm>
            <a:off x="6848950" y="6213633"/>
            <a:ext cx="3108604" cy="12503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15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r>
              <a:t>Manual processes like membership management and event registration can be time-consuming and prone to errors.</a:t>
            </a:r>
          </a:p>
        </p:txBody>
      </p:sp>
      <p:sp>
        <p:nvSpPr>
          <p:cNvPr id="112" name="Shape 13"/>
          <p:cNvSpPr/>
          <p:nvPr/>
        </p:nvSpPr>
        <p:spPr>
          <a:xfrm>
            <a:off x="10159365" y="5428655"/>
            <a:ext cx="454224" cy="454224"/>
          </a:xfrm>
          <a:prstGeom prst="roundRect">
            <a:avLst>
              <a:gd name="adj" fmla="val 18668"/>
            </a:avLst>
          </a:prstGeom>
          <a:solidFill>
            <a:srgbClr val="740B0B"/>
          </a:solidFill>
          <a:ln w="7620">
            <a:solidFill>
              <a:srgbClr val="8D242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3" name="Text 14"/>
          <p:cNvSpPr txBox="1"/>
          <p:nvPr/>
        </p:nvSpPr>
        <p:spPr>
          <a:xfrm>
            <a:off x="10291778" y="5496400"/>
            <a:ext cx="189279" cy="3270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500"/>
              </a:lnSpc>
              <a:defRPr sz="25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</a:lstStyle>
          <a:p>
            <a:r>
              <a:t>4</a:t>
            </a:r>
          </a:p>
        </p:txBody>
      </p:sp>
      <p:sp>
        <p:nvSpPr>
          <p:cNvPr id="114" name="Text 15"/>
          <p:cNvSpPr txBox="1"/>
          <p:nvPr/>
        </p:nvSpPr>
        <p:spPr>
          <a:xfrm>
            <a:off x="10815398" y="5428655"/>
            <a:ext cx="3108604" cy="322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20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</a:lstStyle>
          <a:p>
            <a:r>
              <a:t>Lack of Transparency</a:t>
            </a:r>
          </a:p>
        </p:txBody>
      </p:sp>
      <p:sp>
        <p:nvSpPr>
          <p:cNvPr id="115" name="Text 16"/>
          <p:cNvSpPr txBox="1"/>
          <p:nvPr/>
        </p:nvSpPr>
        <p:spPr>
          <a:xfrm>
            <a:off x="10815398" y="6213633"/>
            <a:ext cx="3108604" cy="9328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sz="15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r>
              <a:t>Limited access to information about club activities and finances can lead to a lack of trust and accountability.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 0"/>
          <p:cNvSpPr txBox="1"/>
          <p:nvPr/>
        </p:nvSpPr>
        <p:spPr>
          <a:xfrm>
            <a:off x="758308" y="2054066"/>
            <a:ext cx="13113784" cy="6974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600"/>
              </a:lnSpc>
              <a:defRPr sz="440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</a:lstStyle>
          <a:p>
            <a:r>
              <a:t>Leveraging MERN Stack for Club Management</a:t>
            </a:r>
          </a:p>
        </p:txBody>
      </p:sp>
      <p:sp>
        <p:nvSpPr>
          <p:cNvPr id="118" name="Text 1"/>
          <p:cNvSpPr txBox="1"/>
          <p:nvPr/>
        </p:nvSpPr>
        <p:spPr>
          <a:xfrm>
            <a:off x="758308" y="4020978"/>
            <a:ext cx="1255131" cy="348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220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</a:lstStyle>
          <a:p>
            <a:r>
              <a:t>MongoDB</a:t>
            </a:r>
          </a:p>
        </p:txBody>
      </p:sp>
      <p:sp>
        <p:nvSpPr>
          <p:cNvPr id="119" name="Text 2"/>
          <p:cNvSpPr txBox="1"/>
          <p:nvPr/>
        </p:nvSpPr>
        <p:spPr>
          <a:xfrm>
            <a:off x="758309" y="4593787"/>
            <a:ext cx="4018359" cy="10097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r>
              <a:t>Provides a flexible and scalable database for storing club data, such as member information, events, and financial records.</a:t>
            </a:r>
          </a:p>
        </p:txBody>
      </p:sp>
      <p:sp>
        <p:nvSpPr>
          <p:cNvPr id="120" name="Text 3"/>
          <p:cNvSpPr txBox="1"/>
          <p:nvPr/>
        </p:nvSpPr>
        <p:spPr>
          <a:xfrm>
            <a:off x="5312926" y="4020978"/>
            <a:ext cx="1301379" cy="348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220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</a:lstStyle>
          <a:p>
            <a:r>
              <a:t>Express.js</a:t>
            </a:r>
          </a:p>
        </p:txBody>
      </p:sp>
      <p:sp>
        <p:nvSpPr>
          <p:cNvPr id="121" name="Text 4"/>
          <p:cNvSpPr txBox="1"/>
          <p:nvPr/>
        </p:nvSpPr>
        <p:spPr>
          <a:xfrm>
            <a:off x="5312926" y="4593787"/>
            <a:ext cx="4018360" cy="10097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r>
              <a:t>Offers a robust framework for building the backend API, handling requests, and managing data interactions.</a:t>
            </a:r>
          </a:p>
        </p:txBody>
      </p:sp>
      <p:sp>
        <p:nvSpPr>
          <p:cNvPr id="122" name="Text 5"/>
          <p:cNvSpPr txBox="1"/>
          <p:nvPr/>
        </p:nvSpPr>
        <p:spPr>
          <a:xfrm>
            <a:off x="9867542" y="4020978"/>
            <a:ext cx="742579" cy="348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220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</a:lstStyle>
          <a:p>
            <a:r>
              <a:t>React</a:t>
            </a:r>
          </a:p>
        </p:txBody>
      </p:sp>
      <p:sp>
        <p:nvSpPr>
          <p:cNvPr id="123" name="Text 6"/>
          <p:cNvSpPr txBox="1"/>
          <p:nvPr/>
        </p:nvSpPr>
        <p:spPr>
          <a:xfrm>
            <a:off x="9867542" y="4593787"/>
            <a:ext cx="4018360" cy="10097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r>
              <a:t>Enables the creation of a user-friendly and interactive front-end interface for managing club activities.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2411373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Text 0"/>
          <p:cNvSpPr txBox="1"/>
          <p:nvPr/>
        </p:nvSpPr>
        <p:spPr>
          <a:xfrm>
            <a:off x="675083" y="2941796"/>
            <a:ext cx="8052620" cy="6117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900"/>
              </a:lnSpc>
              <a:defRPr sz="390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</a:lstStyle>
          <a:p>
            <a:r>
              <a:t>User Registration and Authentication</a:t>
            </a:r>
          </a:p>
        </p:txBody>
      </p:sp>
      <p:sp>
        <p:nvSpPr>
          <p:cNvPr id="127" name="Shape 1"/>
          <p:cNvSpPr/>
          <p:nvPr/>
        </p:nvSpPr>
        <p:spPr>
          <a:xfrm>
            <a:off x="675083" y="5784055"/>
            <a:ext cx="13280233" cy="22861"/>
          </a:xfrm>
          <a:prstGeom prst="roundRect">
            <a:avLst>
              <a:gd name="adj" fmla="val 50000"/>
            </a:avLst>
          </a:prstGeom>
          <a:solidFill>
            <a:srgbClr val="8D242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8" name="Shape 2"/>
          <p:cNvSpPr/>
          <p:nvPr/>
        </p:nvSpPr>
        <p:spPr>
          <a:xfrm>
            <a:off x="3935372" y="5109031"/>
            <a:ext cx="22861" cy="675085"/>
          </a:xfrm>
          <a:prstGeom prst="roundRect">
            <a:avLst>
              <a:gd name="adj" fmla="val 50000"/>
            </a:avLst>
          </a:prstGeom>
          <a:solidFill>
            <a:srgbClr val="8D242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9" name="Shape 3"/>
          <p:cNvSpPr/>
          <p:nvPr/>
        </p:nvSpPr>
        <p:spPr>
          <a:xfrm>
            <a:off x="3729871" y="5567064"/>
            <a:ext cx="433984" cy="433984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7620">
            <a:solidFill>
              <a:srgbClr val="8D242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0" name="Text 4"/>
          <p:cNvSpPr txBox="1"/>
          <p:nvPr/>
        </p:nvSpPr>
        <p:spPr>
          <a:xfrm>
            <a:off x="3859286" y="5631715"/>
            <a:ext cx="175153" cy="3008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300"/>
              </a:lnSpc>
              <a:defRPr sz="23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</a:lstStyle>
          <a:p>
            <a:r>
              <a:t>1</a:t>
            </a:r>
          </a:p>
        </p:txBody>
      </p:sp>
      <p:sp>
        <p:nvSpPr>
          <p:cNvPr id="131" name="Text 5"/>
          <p:cNvSpPr txBox="1"/>
          <p:nvPr/>
        </p:nvSpPr>
        <p:spPr>
          <a:xfrm>
            <a:off x="3008538" y="3865721"/>
            <a:ext cx="1876767" cy="29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400"/>
              </a:lnSpc>
              <a:defRPr sz="19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</a:lstStyle>
          <a:p>
            <a:r>
              <a:t>User Registration</a:t>
            </a:r>
          </a:p>
        </p:txBody>
      </p:sp>
      <p:sp>
        <p:nvSpPr>
          <p:cNvPr id="132" name="Text 6"/>
          <p:cNvSpPr txBox="1"/>
          <p:nvPr/>
        </p:nvSpPr>
        <p:spPr>
          <a:xfrm>
            <a:off x="867965" y="4298751"/>
            <a:ext cx="6157915" cy="592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400"/>
              </a:lnSpc>
              <a:defRPr sz="15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r>
              <a:t>A secure form allows users to create accounts with unique usernames and passwords.</a:t>
            </a:r>
          </a:p>
        </p:txBody>
      </p:sp>
      <p:sp>
        <p:nvSpPr>
          <p:cNvPr id="133" name="Shape 7"/>
          <p:cNvSpPr/>
          <p:nvPr/>
        </p:nvSpPr>
        <p:spPr>
          <a:xfrm>
            <a:off x="7303651" y="5783996"/>
            <a:ext cx="22861" cy="675085"/>
          </a:xfrm>
          <a:prstGeom prst="roundRect">
            <a:avLst>
              <a:gd name="adj" fmla="val 50000"/>
            </a:avLst>
          </a:prstGeom>
          <a:solidFill>
            <a:srgbClr val="8D242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4" name="Shape 8"/>
          <p:cNvSpPr/>
          <p:nvPr/>
        </p:nvSpPr>
        <p:spPr>
          <a:xfrm>
            <a:off x="7098148" y="5567064"/>
            <a:ext cx="433984" cy="433984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7620">
            <a:solidFill>
              <a:srgbClr val="8D242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5" name="Text 9"/>
          <p:cNvSpPr txBox="1"/>
          <p:nvPr/>
        </p:nvSpPr>
        <p:spPr>
          <a:xfrm>
            <a:off x="7227504" y="5631715"/>
            <a:ext cx="175153" cy="3008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300"/>
              </a:lnSpc>
              <a:defRPr sz="23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</a:lstStyle>
          <a:p>
            <a:r>
              <a:t>2</a:t>
            </a:r>
          </a:p>
        </p:txBody>
      </p:sp>
      <p:sp>
        <p:nvSpPr>
          <p:cNvPr id="136" name="Text 10"/>
          <p:cNvSpPr txBox="1"/>
          <p:nvPr/>
        </p:nvSpPr>
        <p:spPr>
          <a:xfrm>
            <a:off x="6544124" y="6652141"/>
            <a:ext cx="1542034" cy="29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400"/>
              </a:lnSpc>
              <a:defRPr sz="19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</a:lstStyle>
          <a:p>
            <a:r>
              <a:t>Authentication</a:t>
            </a:r>
          </a:p>
        </p:txBody>
      </p:sp>
      <p:sp>
        <p:nvSpPr>
          <p:cNvPr id="137" name="Text 11"/>
          <p:cNvSpPr txBox="1"/>
          <p:nvPr/>
        </p:nvSpPr>
        <p:spPr>
          <a:xfrm>
            <a:off x="4236244" y="7085170"/>
            <a:ext cx="6157914" cy="5924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400"/>
              </a:lnSpc>
              <a:defRPr sz="15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r>
              <a:t>Users are authenticated using secure login procedures to verify their identity before accessing club data and features.</a:t>
            </a:r>
          </a:p>
        </p:txBody>
      </p:sp>
      <p:sp>
        <p:nvSpPr>
          <p:cNvPr id="138" name="Shape 12"/>
          <p:cNvSpPr/>
          <p:nvPr/>
        </p:nvSpPr>
        <p:spPr>
          <a:xfrm>
            <a:off x="10671929" y="5109031"/>
            <a:ext cx="22861" cy="675085"/>
          </a:xfrm>
          <a:prstGeom prst="roundRect">
            <a:avLst>
              <a:gd name="adj" fmla="val 50000"/>
            </a:avLst>
          </a:prstGeom>
          <a:solidFill>
            <a:srgbClr val="8D2424"/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9" name="Shape 13"/>
          <p:cNvSpPr/>
          <p:nvPr/>
        </p:nvSpPr>
        <p:spPr>
          <a:xfrm>
            <a:off x="10466427" y="5567064"/>
            <a:ext cx="433984" cy="433984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7620">
            <a:solidFill>
              <a:srgbClr val="8D242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0" name="Text 14"/>
          <p:cNvSpPr txBox="1"/>
          <p:nvPr/>
        </p:nvSpPr>
        <p:spPr>
          <a:xfrm>
            <a:off x="10595783" y="5631715"/>
            <a:ext cx="175153" cy="3008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300"/>
              </a:lnSpc>
              <a:defRPr sz="23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</a:lstStyle>
          <a:p>
            <a:r>
              <a:t>3</a:t>
            </a:r>
          </a:p>
        </p:txBody>
      </p:sp>
      <p:sp>
        <p:nvSpPr>
          <p:cNvPr id="141" name="Text 15"/>
          <p:cNvSpPr txBox="1"/>
          <p:nvPr/>
        </p:nvSpPr>
        <p:spPr>
          <a:xfrm>
            <a:off x="9972844" y="3865721"/>
            <a:ext cx="1421149" cy="2993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ts val="2400"/>
              </a:lnSpc>
              <a:defRPr sz="19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</a:lstStyle>
          <a:p>
            <a:r>
              <a:t>Authorization</a:t>
            </a:r>
          </a:p>
        </p:txBody>
      </p:sp>
      <p:sp>
        <p:nvSpPr>
          <p:cNvPr id="142" name="Text 16"/>
          <p:cNvSpPr txBox="1"/>
          <p:nvPr/>
        </p:nvSpPr>
        <p:spPr>
          <a:xfrm>
            <a:off x="7604521" y="4298751"/>
            <a:ext cx="6157915" cy="592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400"/>
              </a:lnSpc>
              <a:defRPr sz="15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r>
              <a:t>Access to different features and data is controlled based on user roles and permissions.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2708196"/>
          </a:xfrm>
          <a:prstGeom prst="rect">
            <a:avLst/>
          </a:prstGeom>
          <a:ln w="12700">
            <a:miter lim="400000"/>
          </a:ln>
        </p:spPr>
      </p:pic>
      <p:sp>
        <p:nvSpPr>
          <p:cNvPr id="145" name="Text 0"/>
          <p:cNvSpPr txBox="1"/>
          <p:nvPr/>
        </p:nvSpPr>
        <p:spPr>
          <a:xfrm>
            <a:off x="758308" y="3962756"/>
            <a:ext cx="7779694" cy="697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600"/>
              </a:lnSpc>
              <a:defRPr sz="440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</a:lstStyle>
          <a:p>
            <a:r>
              <a:t>Event Planning and Scheduling</a:t>
            </a:r>
          </a:p>
        </p:txBody>
      </p:sp>
      <p:sp>
        <p:nvSpPr>
          <p:cNvPr id="146" name="Shape 1"/>
          <p:cNvSpPr/>
          <p:nvPr/>
        </p:nvSpPr>
        <p:spPr>
          <a:xfrm>
            <a:off x="758308" y="5000387"/>
            <a:ext cx="4226840" cy="1974652"/>
          </a:xfrm>
          <a:prstGeom prst="roundRect">
            <a:avLst>
              <a:gd name="adj" fmla="val 4608"/>
            </a:avLst>
          </a:prstGeom>
          <a:solidFill>
            <a:srgbClr val="740B0B"/>
          </a:solidFill>
          <a:ln w="7620">
            <a:solidFill>
              <a:srgbClr val="8D242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7" name="Text 2"/>
          <p:cNvSpPr txBox="1"/>
          <p:nvPr/>
        </p:nvSpPr>
        <p:spPr>
          <a:xfrm>
            <a:off x="982503" y="5224581"/>
            <a:ext cx="1860862" cy="348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22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</a:lstStyle>
          <a:p>
            <a:r>
              <a:t>Event Creation</a:t>
            </a:r>
          </a:p>
        </p:txBody>
      </p:sp>
      <p:sp>
        <p:nvSpPr>
          <p:cNvPr id="148" name="Text 3"/>
          <p:cNvSpPr txBox="1"/>
          <p:nvPr/>
        </p:nvSpPr>
        <p:spPr>
          <a:xfrm>
            <a:off x="982503" y="5710713"/>
            <a:ext cx="3778450" cy="10097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r>
              <a:t>Allows users to create new events with details like date, time, location, description, and RSVP options.</a:t>
            </a:r>
          </a:p>
        </p:txBody>
      </p:sp>
      <p:sp>
        <p:nvSpPr>
          <p:cNvPr id="149" name="Shape 4"/>
          <p:cNvSpPr/>
          <p:nvPr/>
        </p:nvSpPr>
        <p:spPr>
          <a:xfrm>
            <a:off x="5201722" y="5000387"/>
            <a:ext cx="4226839" cy="1974652"/>
          </a:xfrm>
          <a:prstGeom prst="roundRect">
            <a:avLst>
              <a:gd name="adj" fmla="val 4608"/>
            </a:avLst>
          </a:prstGeom>
          <a:solidFill>
            <a:srgbClr val="740B0B"/>
          </a:solidFill>
          <a:ln w="7620">
            <a:solidFill>
              <a:srgbClr val="8D242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0" name="Text 5"/>
          <p:cNvSpPr txBox="1"/>
          <p:nvPr/>
        </p:nvSpPr>
        <p:spPr>
          <a:xfrm>
            <a:off x="5425916" y="5224581"/>
            <a:ext cx="2187328" cy="348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22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</a:lstStyle>
          <a:p>
            <a:r>
              <a:t>Event Scheduling</a:t>
            </a:r>
          </a:p>
        </p:txBody>
      </p:sp>
      <p:sp>
        <p:nvSpPr>
          <p:cNvPr id="151" name="Text 6"/>
          <p:cNvSpPr txBox="1"/>
          <p:nvPr/>
        </p:nvSpPr>
        <p:spPr>
          <a:xfrm>
            <a:off x="5425916" y="5710713"/>
            <a:ext cx="3778449" cy="10097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r>
              <a:t>Provides a calendar view to visualize scheduled events and manage conflicts, ensuring seamless planning.</a:t>
            </a:r>
          </a:p>
        </p:txBody>
      </p:sp>
      <p:sp>
        <p:nvSpPr>
          <p:cNvPr id="152" name="Shape 7"/>
          <p:cNvSpPr/>
          <p:nvPr/>
        </p:nvSpPr>
        <p:spPr>
          <a:xfrm>
            <a:off x="9645133" y="5000387"/>
            <a:ext cx="4226839" cy="1974652"/>
          </a:xfrm>
          <a:prstGeom prst="roundRect">
            <a:avLst>
              <a:gd name="adj" fmla="val 4608"/>
            </a:avLst>
          </a:prstGeom>
          <a:solidFill>
            <a:srgbClr val="740B0B"/>
          </a:solidFill>
          <a:ln w="7620">
            <a:solidFill>
              <a:srgbClr val="8D2424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3" name="Text 8"/>
          <p:cNvSpPr txBox="1"/>
          <p:nvPr/>
        </p:nvSpPr>
        <p:spPr>
          <a:xfrm>
            <a:off x="9869329" y="5224581"/>
            <a:ext cx="2403972" cy="3487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22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</a:lstStyle>
          <a:p>
            <a:r>
              <a:t>Notification System</a:t>
            </a:r>
          </a:p>
        </p:txBody>
      </p:sp>
      <p:sp>
        <p:nvSpPr>
          <p:cNvPr id="154" name="Text 9"/>
          <p:cNvSpPr txBox="1"/>
          <p:nvPr/>
        </p:nvSpPr>
        <p:spPr>
          <a:xfrm>
            <a:off x="9869329" y="5710713"/>
            <a:ext cx="3778449" cy="10097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r>
              <a:t>Sends notifications to members about upcoming events, reminders, and important updates.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2599850"/>
          </a:xfrm>
          <a:prstGeom prst="rect">
            <a:avLst/>
          </a:prstGeom>
          <a:ln w="12700">
            <a:miter lim="400000"/>
          </a:ln>
        </p:spPr>
      </p:pic>
      <p:sp>
        <p:nvSpPr>
          <p:cNvPr id="157" name="Text 0"/>
          <p:cNvSpPr txBox="1"/>
          <p:nvPr/>
        </p:nvSpPr>
        <p:spPr>
          <a:xfrm>
            <a:off x="727948" y="3513533"/>
            <a:ext cx="10120884" cy="664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300"/>
              </a:lnSpc>
              <a:defRPr sz="430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</a:lstStyle>
          <a:p>
            <a:r>
              <a:t>Club Membership and Dues Management</a:t>
            </a:r>
          </a:p>
        </p:txBody>
      </p:sp>
      <p:sp>
        <p:nvSpPr>
          <p:cNvPr id="158" name="Shape 1"/>
          <p:cNvSpPr/>
          <p:nvPr/>
        </p:nvSpPr>
        <p:spPr>
          <a:xfrm>
            <a:off x="727948" y="4509611"/>
            <a:ext cx="13174505" cy="2806304"/>
          </a:xfrm>
          <a:prstGeom prst="roundRect">
            <a:avLst>
              <a:gd name="adj" fmla="val 3113"/>
            </a:avLst>
          </a:prstGeom>
          <a:ln w="7620">
            <a:solidFill>
              <a:srgbClr val="FFFFFF">
                <a:alpha val="2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9" name="Shape 2"/>
          <p:cNvSpPr/>
          <p:nvPr/>
        </p:nvSpPr>
        <p:spPr>
          <a:xfrm>
            <a:off x="735567" y="4517230"/>
            <a:ext cx="13159265" cy="930354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0" name="Text 3"/>
          <p:cNvSpPr txBox="1"/>
          <p:nvPr/>
        </p:nvSpPr>
        <p:spPr>
          <a:xfrm>
            <a:off x="943450" y="4649628"/>
            <a:ext cx="2373215" cy="3108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16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r>
              <a:t>Membership Management</a:t>
            </a:r>
          </a:p>
        </p:txBody>
      </p:sp>
      <p:sp>
        <p:nvSpPr>
          <p:cNvPr id="161" name="Text 4"/>
          <p:cNvSpPr txBox="1"/>
          <p:nvPr/>
        </p:nvSpPr>
        <p:spPr>
          <a:xfrm>
            <a:off x="7526893" y="4649628"/>
            <a:ext cx="6160057" cy="64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16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r>
              <a:t>Allows users to join clubs, update their information, and manage their memberships.</a:t>
            </a:r>
          </a:p>
        </p:txBody>
      </p:sp>
      <p:sp>
        <p:nvSpPr>
          <p:cNvPr id="162" name="Shape 5"/>
          <p:cNvSpPr/>
          <p:nvPr/>
        </p:nvSpPr>
        <p:spPr>
          <a:xfrm>
            <a:off x="735567" y="5447586"/>
            <a:ext cx="13159265" cy="930354"/>
          </a:xfrm>
          <a:prstGeom prst="rect">
            <a:avLst/>
          </a:prstGeom>
          <a:solidFill>
            <a:srgbClr val="000000">
              <a:alpha val="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3" name="Text 6"/>
          <p:cNvSpPr txBox="1"/>
          <p:nvPr/>
        </p:nvSpPr>
        <p:spPr>
          <a:xfrm>
            <a:off x="943450" y="5579983"/>
            <a:ext cx="1729583" cy="3108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16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r>
              <a:t>Dues Management</a:t>
            </a:r>
          </a:p>
        </p:txBody>
      </p:sp>
      <p:sp>
        <p:nvSpPr>
          <p:cNvPr id="164" name="Text 7"/>
          <p:cNvSpPr txBox="1"/>
          <p:nvPr/>
        </p:nvSpPr>
        <p:spPr>
          <a:xfrm>
            <a:off x="7526893" y="5579983"/>
            <a:ext cx="6160057" cy="6410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16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r>
              <a:t>Facilitates online payment processing, tracks dues status, and sends reminders for overdue payments.</a:t>
            </a:r>
          </a:p>
        </p:txBody>
      </p:sp>
      <p:sp>
        <p:nvSpPr>
          <p:cNvPr id="165" name="Shape 8"/>
          <p:cNvSpPr/>
          <p:nvPr/>
        </p:nvSpPr>
        <p:spPr>
          <a:xfrm>
            <a:off x="735567" y="6377940"/>
            <a:ext cx="13159265" cy="930354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6" name="Text 9"/>
          <p:cNvSpPr txBox="1"/>
          <p:nvPr/>
        </p:nvSpPr>
        <p:spPr>
          <a:xfrm>
            <a:off x="943450" y="6510338"/>
            <a:ext cx="1627288" cy="3108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16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r>
              <a:t>Member Directory</a:t>
            </a:r>
          </a:p>
        </p:txBody>
      </p:sp>
      <p:sp>
        <p:nvSpPr>
          <p:cNvPr id="167" name="Text 10"/>
          <p:cNvSpPr txBox="1"/>
          <p:nvPr/>
        </p:nvSpPr>
        <p:spPr>
          <a:xfrm>
            <a:off x="7526893" y="6510338"/>
            <a:ext cx="6160057" cy="6410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600"/>
              </a:lnSpc>
              <a:defRPr sz="16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r>
              <a:t>Provides a searchable directory of members, fostering communication and collaboration within the club.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70" name="Text 0"/>
          <p:cNvSpPr txBox="1"/>
          <p:nvPr/>
        </p:nvSpPr>
        <p:spPr>
          <a:xfrm>
            <a:off x="6244709" y="639842"/>
            <a:ext cx="7627382" cy="1408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600"/>
              </a:lnSpc>
              <a:defRPr sz="440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</a:lstStyle>
          <a:p>
            <a:r>
              <a:t>Communication and Collaboration Tools</a:t>
            </a:r>
          </a:p>
        </p:txBody>
      </p:sp>
      <p:pic>
        <p:nvPicPr>
          <p:cNvPr id="171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709" y="2390180"/>
            <a:ext cx="1083232" cy="1733194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Text 1"/>
          <p:cNvSpPr txBox="1"/>
          <p:nvPr/>
        </p:nvSpPr>
        <p:spPr>
          <a:xfrm>
            <a:off x="7652860" y="2606754"/>
            <a:ext cx="2248447" cy="348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22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</a:lstStyle>
          <a:p>
            <a:r>
              <a:t>Discussion Forum</a:t>
            </a:r>
          </a:p>
        </p:txBody>
      </p:sp>
      <p:sp>
        <p:nvSpPr>
          <p:cNvPr id="173" name="Text 2"/>
          <p:cNvSpPr txBox="1"/>
          <p:nvPr/>
        </p:nvSpPr>
        <p:spPr>
          <a:xfrm>
            <a:off x="7652860" y="3092886"/>
            <a:ext cx="6219231" cy="666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r>
              <a:t>Enables members to discuss club-related topics, share ideas, and ask questions.</a:t>
            </a:r>
          </a:p>
        </p:txBody>
      </p:sp>
      <p:pic>
        <p:nvPicPr>
          <p:cNvPr id="174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709" y="4123371"/>
            <a:ext cx="1083232" cy="1733195"/>
          </a:xfrm>
          <a:prstGeom prst="rect">
            <a:avLst/>
          </a:prstGeom>
          <a:ln w="12700">
            <a:miter lim="400000"/>
          </a:ln>
        </p:spPr>
      </p:pic>
      <p:sp>
        <p:nvSpPr>
          <p:cNvPr id="175" name="Text 3"/>
          <p:cNvSpPr txBox="1"/>
          <p:nvPr/>
        </p:nvSpPr>
        <p:spPr>
          <a:xfrm>
            <a:off x="7652860" y="4339947"/>
            <a:ext cx="1643399" cy="348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22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</a:lstStyle>
          <a:p>
            <a:r>
              <a:t>Chat Feature</a:t>
            </a:r>
          </a:p>
        </p:txBody>
      </p:sp>
      <p:sp>
        <p:nvSpPr>
          <p:cNvPr id="176" name="Text 4"/>
          <p:cNvSpPr txBox="1"/>
          <p:nvPr/>
        </p:nvSpPr>
        <p:spPr>
          <a:xfrm>
            <a:off x="7652860" y="4826079"/>
            <a:ext cx="6219231" cy="666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r>
              <a:t>Provides real-time communication channels for quick discussions and updates.</a:t>
            </a:r>
          </a:p>
        </p:txBody>
      </p:sp>
      <p:pic>
        <p:nvPicPr>
          <p:cNvPr id="177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4709" y="5856565"/>
            <a:ext cx="1083232" cy="1733194"/>
          </a:xfrm>
          <a:prstGeom prst="rect">
            <a:avLst/>
          </a:prstGeom>
          <a:ln w="12700">
            <a:miter lim="400000"/>
          </a:ln>
        </p:spPr>
      </p:pic>
      <p:sp>
        <p:nvSpPr>
          <p:cNvPr id="178" name="Text 5"/>
          <p:cNvSpPr txBox="1"/>
          <p:nvPr/>
        </p:nvSpPr>
        <p:spPr>
          <a:xfrm>
            <a:off x="7652860" y="6073140"/>
            <a:ext cx="2326755" cy="3487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2200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</a:lstStyle>
          <a:p>
            <a:r>
              <a:t>Document Sharing</a:t>
            </a:r>
          </a:p>
        </p:txBody>
      </p:sp>
      <p:sp>
        <p:nvSpPr>
          <p:cNvPr id="179" name="Text 6"/>
          <p:cNvSpPr txBox="1"/>
          <p:nvPr/>
        </p:nvSpPr>
        <p:spPr>
          <a:xfrm>
            <a:off x="7652860" y="6559271"/>
            <a:ext cx="6219231" cy="666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sz="17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r>
              <a:t>Facilitates collaborative document editing and sharing for club projects and presentations.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82" name="Text 0"/>
          <p:cNvSpPr txBox="1"/>
          <p:nvPr/>
        </p:nvSpPr>
        <p:spPr>
          <a:xfrm>
            <a:off x="620435" y="489108"/>
            <a:ext cx="7903131" cy="562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4500"/>
              </a:lnSpc>
              <a:defRPr sz="360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</a:lstStyle>
          <a:p>
            <a:r>
              <a:t>Conclusion and Future Considerations</a:t>
            </a:r>
          </a:p>
        </p:txBody>
      </p:sp>
      <p:pic>
        <p:nvPicPr>
          <p:cNvPr id="183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34" y="1921073"/>
            <a:ext cx="443153" cy="443152"/>
          </a:xfrm>
          <a:prstGeom prst="rect">
            <a:avLst/>
          </a:prstGeom>
          <a:ln w="12700">
            <a:miter lim="400000"/>
          </a:ln>
        </p:spPr>
      </p:pic>
      <p:sp>
        <p:nvSpPr>
          <p:cNvPr id="184" name="Text 1"/>
          <p:cNvSpPr txBox="1"/>
          <p:nvPr/>
        </p:nvSpPr>
        <p:spPr>
          <a:xfrm>
            <a:off x="620434" y="2541389"/>
            <a:ext cx="1753767" cy="276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</a:lstStyle>
          <a:p>
            <a:r>
              <a:t>Cloud Integration</a:t>
            </a:r>
          </a:p>
        </p:txBody>
      </p:sp>
      <p:sp>
        <p:nvSpPr>
          <p:cNvPr id="185" name="Text 2"/>
          <p:cNvSpPr txBox="1"/>
          <p:nvPr/>
        </p:nvSpPr>
        <p:spPr>
          <a:xfrm>
            <a:off x="620435" y="2939176"/>
            <a:ext cx="7903131" cy="261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sz="13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r>
              <a:t>Integrating with cloud storage services like Google Drive or Dropbox for secure and accessible file storage.</a:t>
            </a:r>
          </a:p>
        </p:txBody>
      </p:sp>
      <p:pic>
        <p:nvPicPr>
          <p:cNvPr id="186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434" y="4038124"/>
            <a:ext cx="443153" cy="443152"/>
          </a:xfrm>
          <a:prstGeom prst="rect">
            <a:avLst/>
          </a:prstGeom>
          <a:ln w="12700">
            <a:miter lim="400000"/>
          </a:ln>
        </p:spPr>
      </p:pic>
      <p:sp>
        <p:nvSpPr>
          <p:cNvPr id="187" name="Text 3"/>
          <p:cNvSpPr txBox="1"/>
          <p:nvPr/>
        </p:nvSpPr>
        <p:spPr>
          <a:xfrm>
            <a:off x="620435" y="4658438"/>
            <a:ext cx="2554313" cy="27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</a:lstStyle>
          <a:p>
            <a:r>
              <a:t>Mobile App Development</a:t>
            </a:r>
          </a:p>
        </p:txBody>
      </p:sp>
      <p:sp>
        <p:nvSpPr>
          <p:cNvPr id="188" name="Text 4"/>
          <p:cNvSpPr txBox="1"/>
          <p:nvPr/>
        </p:nvSpPr>
        <p:spPr>
          <a:xfrm>
            <a:off x="620435" y="5056227"/>
            <a:ext cx="7903131" cy="261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sz="13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r>
              <a:t>Creating a dedicated mobile app to enhance user experience and provide on-the-go access to club features.</a:t>
            </a:r>
          </a:p>
        </p:txBody>
      </p:sp>
      <p:pic>
        <p:nvPicPr>
          <p:cNvPr id="189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34" y="6155173"/>
            <a:ext cx="443153" cy="443152"/>
          </a:xfrm>
          <a:prstGeom prst="rect">
            <a:avLst/>
          </a:prstGeom>
          <a:ln w="12700">
            <a:miter lim="400000"/>
          </a:ln>
        </p:spPr>
      </p:pic>
      <p:sp>
        <p:nvSpPr>
          <p:cNvPr id="190" name="Text 5"/>
          <p:cNvSpPr txBox="1"/>
          <p:nvPr/>
        </p:nvSpPr>
        <p:spPr>
          <a:xfrm>
            <a:off x="620435" y="6775490"/>
            <a:ext cx="1461319" cy="276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200"/>
              </a:lnSpc>
              <a:defRPr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defRPr>
            </a:lvl1pPr>
          </a:lstStyle>
          <a:p>
            <a:r>
              <a:t>Data Analytics</a:t>
            </a:r>
          </a:p>
        </p:txBody>
      </p:sp>
      <p:sp>
        <p:nvSpPr>
          <p:cNvPr id="191" name="Text 6"/>
          <p:cNvSpPr txBox="1"/>
          <p:nvPr/>
        </p:nvSpPr>
        <p:spPr>
          <a:xfrm>
            <a:off x="620435" y="7173277"/>
            <a:ext cx="7903131" cy="5408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sz="13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r>
              <a:t>Implementing analytics tools to gain insights into member engagement, event attendance, and club performance.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3ED107-861F-05C2-3356-D8826FB83E19}"/>
              </a:ext>
            </a:extLst>
          </p:cNvPr>
          <p:cNvSpPr txBox="1"/>
          <p:nvPr/>
        </p:nvSpPr>
        <p:spPr>
          <a:xfrm>
            <a:off x="3298003" y="3560802"/>
            <a:ext cx="1186248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i="1" dirty="0">
                <a:solidFill>
                  <a:srgbClr val="FFC000"/>
                </a:solidFill>
                <a:latin typeface="Berlin Sans FB Demi" panose="020E0802020502020306" pitchFamily="34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52016986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>
                <a:solidFill>
                  <a:srgbClr val="000000"/>
                </a:solidFill>
              </a:defRPr>
            </a:pPr>
            <a:r>
              <a:t>Traditional club management faces several issues: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- Inefficient communication using email/paper flyers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- Limited reach and engagement among members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- Manual and time-consuming processes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- Lack of transparency in activities and finances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Novelty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>
                <a:solidFill>
                  <a:srgbClr val="000000"/>
                </a:solidFill>
              </a:defRPr>
            </a:pPr>
            <a:r>
              <a:t>Unlike traditional methods, this project: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- Provides a centralized digital platform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- Uses modern MERN stack for scalability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- Enables real-time communication and collaboration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- Incorporates transparent dues and membership management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- Future-ready with cloud, analytics, and mobile integration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>
                <a:solidFill>
                  <a:srgbClr val="000000"/>
                </a:solidFill>
              </a:defRPr>
            </a:pPr>
            <a:r>
              <a:t>1. User Registration and Authentication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 - Secure login and role-based access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2. Club Membership Management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 - Join clubs, update details, manage dues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3. Event Planning and Scheduling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 - Create events, calendar view, notifications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4. Communication Tools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 - Discussion forum, chat, document sharing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 (MERN)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>
                <a:solidFill>
                  <a:srgbClr val="000000"/>
                </a:solidFill>
              </a:defRPr>
            </a:pPr>
            <a:r>
              <a:t>MongoDB – NoSQL database for flexible storage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Express.js – Backend framework for API and server logic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React.js – Frontend for interactive user interface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Node.js – Runtime environment for backend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>
                <a:solidFill>
                  <a:srgbClr val="000000"/>
                </a:solidFill>
              </a:defRPr>
            </a:pPr>
            <a:r>
              <a:t>The College Club Management System: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- Simplifies and automates club activities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- Enhances student engagement and collaboration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- Provides transparency and accountability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- Offers scalability for multiple institutions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endParaRPr/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— Thank You 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77</TotalTime>
  <Words>777</Words>
  <Application>Microsoft Office PowerPoint</Application>
  <PresentationFormat>Custom</PresentationFormat>
  <Paragraphs>115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Algerian</vt:lpstr>
      <vt:lpstr>Arial</vt:lpstr>
      <vt:lpstr>Arial Black</vt:lpstr>
      <vt:lpstr>Arial Rounded MT Bold</vt:lpstr>
      <vt:lpstr>Bahnschrift SemiBold</vt:lpstr>
      <vt:lpstr>Berlin Sans FB Demi</vt:lpstr>
      <vt:lpstr>Calibri</vt:lpstr>
      <vt:lpstr>Trebuchet MS</vt:lpstr>
      <vt:lpstr>Wingdings 3</vt:lpstr>
      <vt:lpstr>Facet</vt:lpstr>
      <vt:lpstr>“MAJOR  PROJECT”    TOPIC – COLLEGE CLUB MANAGEMENT System  </vt:lpstr>
      <vt:lpstr>DEPARTMENT –CSE(AI)            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 Statement</vt:lpstr>
      <vt:lpstr>Novelty of the Project</vt:lpstr>
      <vt:lpstr>Working of the Project</vt:lpstr>
      <vt:lpstr>Technology Stack (MERN)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“MINI PROJECT”    TOPIC – COLLEGE CLUB MANAGEMENT</dc:title>
  <dc:creator>del</dc:creator>
  <cp:lastModifiedBy>ANUJ GUPTA</cp:lastModifiedBy>
  <cp:revision>9</cp:revision>
  <dcterms:modified xsi:type="dcterms:W3CDTF">2026-05-05T05:38:43Z</dcterms:modified>
</cp:coreProperties>
</file>